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468880"/>
            <a:ext cx="12191695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3444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200" b="1" i="0">
                <a:solidFill>
                  <a:srgbClr val="000000"/>
                </a:solidFill>
                <a:latin typeface="Times New Roman"/>
              </a:rPr>
              <a:t>LeakLens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97480"/>
            <a:ext cx="103327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1A1A1A"/>
                </a:solidFill>
                <a:latin typeface="Times New Roman"/>
              </a:rPr>
              <a:t>Does unlearning survive deployment compression?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1A1A1A"/>
                </a:solidFill>
                <a:latin typeface="Times New Roman"/>
              </a:rPr>
              <a:t>Auditing whether quantization undoes machine unlearning, and localizing where it leaks, with the logit 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666666"/>
                </a:solidFill>
                <a:latin typeface="Times New Roman"/>
              </a:rPr>
              <a:t>A portfolio project extending the TUM master's thesis on mechanistic interpretability of unlearning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666666"/>
                </a:solidFill>
                <a:latin typeface="Times New Roman"/>
              </a:rPr>
              <a:t>OUTLINE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11556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00000"/>
                </a:solidFill>
                <a:latin typeface="Times New Roman"/>
              </a:rPr>
              <a:t>The complete story, in four parts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0972800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8992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000000"/>
                </a:solidFill>
                <a:latin typeface="Times New Roman"/>
              </a:rPr>
              <a:t>Part I. The unlearning problem (from the thesis)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A1A1A"/>
                </a:solidFill>
                <a:latin typeface="Times New Roman"/>
              </a:rPr>
              <a:t>–  Output metrics cannot tell unlearning methods apart; the logit lens shows most unlearning suppresses rather than erases.</a:t>
            </a:r>
          </a:p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000000"/>
                </a:solidFill>
                <a:latin typeface="Times New Roman"/>
              </a:rPr>
              <a:t>Part II. The quantization twist (LeakLens)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A1A1A"/>
                </a:solidFill>
                <a:latin typeface="Times New Roman"/>
              </a:rPr>
              <a:t>–  Training and quantization are both lossy compression. Does deployment-time 4-bit quantization undo the deletion? The tool, its pipeline, and the recovery-depth metric.</a:t>
            </a:r>
          </a:p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000000"/>
                </a:solidFill>
                <a:latin typeface="Times New Roman"/>
              </a:rPr>
              <a:t>Part III. Results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A1A1A"/>
                </a:solidFill>
                <a:latin typeface="Times New Roman"/>
              </a:rPr>
              <a:t>–  The backend decides whether unlearning survives; the calibration-set attack (an honest null); the real-GPTQ cross-check.</a:t>
            </a:r>
          </a:p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000000"/>
                </a:solidFill>
                <a:latin typeface="Times New Roman"/>
              </a:rPr>
              <a:t>Part IV. Takeaways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A1A1A"/>
                </a:solidFill>
                <a:latin typeface="Times New Roman"/>
              </a:rPr>
              <a:t>–  What is firm, what is open, and what ships.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666666"/>
                </a:solidFill>
                <a:latin typeface="Times New Roman"/>
              </a:rPr>
              <a:t>PART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332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00000"/>
                </a:solidFill>
                <a:latin typeface="Times New Roman"/>
              </a:rPr>
              <a:t>The unlearning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1">
                <a:solidFill>
                  <a:srgbClr val="666666"/>
                </a:solidFill>
                <a:latin typeface="Times New Roman"/>
              </a:rPr>
              <a:t>what the thesis established: suppression is not erasure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666666"/>
                </a:solidFill>
                <a:latin typeface="Times New Roman"/>
              </a:rPr>
              <a:t>1 · MACHINE UNLEARNING AND THE VERIFICATION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11556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00000"/>
                </a:solidFill>
                <a:latin typeface="Times New Roman"/>
              </a:rPr>
              <a:t>did the model forget, or just hide it?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0972800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10789920" cy="4754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000000"/>
                </a:solidFill>
                <a:latin typeface="Times New Roman"/>
              </a:rPr>
              <a:t>What unlearning promises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1A1A1A"/>
                </a:solidFill>
                <a:latin typeface="Times New Roman"/>
              </a:rPr>
              <a:t>–  Remove specific knowledge from a trained model, post hoc, without retraining: for privacy (right to be forgotten), copyright, and safety.</a:t>
            </a:r>
          </a:p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000000"/>
                </a:solidFill>
                <a:latin typeface="Times New Roman"/>
              </a:rPr>
              <a:t>The hard question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1A1A1A"/>
                </a:solidFill>
                <a:latin typeface="Times New Roman"/>
              </a:rPr>
              <a:t>–  Unlearning is validated at the OUTPUT: ask the model and check the answer is gone. But a model can look forgotten on the outside while holding the knowledge inside.</a:t>
            </a:r>
          </a:p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000000"/>
                </a:solidFill>
                <a:latin typeface="Times New Roman"/>
              </a:rPr>
              <a:t>Suppression vs erasure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1A1A1A"/>
                </a:solidFill>
                <a:latin typeface="Times New Roman"/>
              </a:rPr>
              <a:t>–  The thesis showed, on the Hubble benchmark, that most unlearning SUPPRESSES the fact at the output while its internal representation stays intact, and that a paraphrase, a few fine-tune steps, or a change of precision can bring it back.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666666"/>
                </a:solidFill>
                <a:latin typeface="Times New Roman"/>
              </a:rPr>
              <a:t>1 · THE OUTPUT IS BLIND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11556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 i="0">
                <a:solidFill>
                  <a:srgbClr val="000000"/>
                </a:solidFill>
                <a:latin typeface="Times New Roman"/>
              </a:rPr>
              <a:t>at the output, the four unlearning methods look identical (8B)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0972800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nfill_bars_8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607" y="1691640"/>
            <a:ext cx="8412480" cy="33803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635508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1">
                <a:solidFill>
                  <a:srgbClr val="666666"/>
                </a:solidFill>
                <a:latin typeface="Times New Roman"/>
              </a:rPr>
              <a:t>Every unlearned method drops to the never-knew floor. One output verdict; no way to tell the methods, or true erasure, apart.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666666"/>
                </a:solidFill>
                <a:latin typeface="Times New Roman"/>
              </a:rPr>
              <a:t>1 · READING INSIDE: THE LOGIT 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11556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 i="0">
                <a:solidFill>
                  <a:srgbClr val="000000"/>
                </a:solidFill>
                <a:latin typeface="Times New Roman"/>
              </a:rPr>
              <a:t>the internal readout separates them: suppression is not erasure (8B)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0972800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itlens_rank_median_8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1691640"/>
            <a:ext cx="9144000" cy="411060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635508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1">
                <a:solidFill>
                  <a:srgbClr val="666666"/>
                </a:solidFill>
                <a:latin typeface="Times New Roman"/>
              </a:rPr>
              <a:t>Rank-by-layer of the gold token. NPO / GradDiff / RMU bury it; IDK keeps it at the surface; none achieves internal erasure. Invisible at the output.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666666"/>
                </a:solidFill>
                <a:latin typeface="Times New Roman"/>
              </a:rPr>
              <a:t>1 · ONE FACT, LAYER BY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11556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 i="0">
                <a:solidFill>
                  <a:srgbClr val="000000"/>
                </a:solidFill>
                <a:latin typeface="Times New Roman"/>
              </a:rPr>
              <a:t>the model that knows converges; the unlearned one never surfaces the answer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0972800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enstable_contrast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6815" y="1691640"/>
            <a:ext cx="5618064" cy="484631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635508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1">
                <a:solidFill>
                  <a:srgbClr val="666666"/>
                </a:solidFill>
                <a:latin typeface="Times New Roman"/>
              </a:rPr>
              <a:t>Top-1 logit-lens prediction per layer. Suppression, not erasure, in a single table.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666666"/>
                </a:solidFill>
                <a:latin typeface="Times New Roman"/>
              </a:rPr>
              <a:t>1 · CONFIDENCE IS NOT KNOWLEDGE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11556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 i="0">
                <a:solidFill>
                  <a:srgbClr val="000000"/>
                </a:solidFill>
                <a:latin typeface="Times New Roman"/>
              </a:rPr>
              <a:t>unlearned models are as confident in a wrong token as the knowing model is in the right 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0972800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enstable_confidence_contradi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047" y="1691640"/>
            <a:ext cx="8229600" cy="34035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635508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1">
                <a:solidFill>
                  <a:srgbClr val="666666"/>
                </a:solidFill>
                <a:latin typeface="Times New Roman"/>
              </a:rPr>
              <a:t>A probability metric cannot separate confidently knows from confidently deflects. The output-metric failure, made visual.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666666"/>
                </a:solidFill>
                <a:latin typeface="Times New Roman"/>
              </a:rPr>
              <a:t>PART 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332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00000"/>
                </a:solidFill>
                <a:latin typeface="Times New Roman"/>
              </a:rPr>
              <a:t>The quantization twist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1">
                <a:solidFill>
                  <a:srgbClr val="666666"/>
                </a:solidFill>
                <a:latin typeface="Times New Roman"/>
              </a:rPr>
              <a:t>deployment compression can undo the deletion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666666"/>
                </a:solidFill>
                <a:latin typeface="Times New Roman"/>
              </a:rPr>
              <a:t>2 · TWO COMPRESSIONS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11556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 i="0">
                <a:solidFill>
                  <a:srgbClr val="000000"/>
                </a:solidFill>
                <a:latin typeface="Times New Roman"/>
              </a:rPr>
              <a:t>training compresses, unlearning deletes, quantization compresses again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0972800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10789920" cy="4754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1A1A1A"/>
                </a:solidFill>
                <a:latin typeface="Times New Roman"/>
              </a:rPr>
              <a:t>–  Conklin et al. (2026) frame LLM training as LOSSY COMPRESSION: a model retains only what serves its objective, and different families compress differently.</a:t>
            </a:r>
          </a:p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000000"/>
                </a:solidFill>
                <a:latin typeface="Times New Roman"/>
              </a:rPr>
              <a:t>The chain LeakLens studies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1A1A1A"/>
                </a:solidFill>
                <a:latin typeface="Times New Roman"/>
              </a:rPr>
              <a:t>–  1. Training compresses the data into weights.  2. Unlearning claims to surgically DELETE one retained piece.  3. Quantization applies a second, much cruder compression (4-bit) before deployment.</a:t>
            </a:r>
          </a:p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000000"/>
                </a:solidFill>
                <a:latin typeface="Times New Roman"/>
              </a:rPr>
              <a:t>The question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1A1A1A"/>
                </a:solidFill>
                <a:latin typeface="Times New Roman"/>
              </a:rPr>
              <a:t>–  Unlearning is validated at FP16. Models ship at 4-bit. Does the second compression UNDO the first deletion, and if so, where in the network does the fact come back?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666666"/>
                </a:solidFill>
                <a:latin typeface="Times New Roman"/>
              </a:rPr>
              <a:t>2 · PRIOR WORK AND THE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11556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 i="0">
                <a:solidFill>
                  <a:srgbClr val="000000"/>
                </a:solidFill>
                <a:latin typeface="Times New Roman"/>
              </a:rPr>
              <a:t>the phenomenon is known; a representational, multi-backend audit is not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0972800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783080"/>
          <a:ext cx="10789919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7498079"/>
              </a:tblGrid>
              <a:tr h="36576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Times New Roman"/>
                        </a:rPr>
                        <a:t>prior work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Times New Roman"/>
                        </a:rPr>
                        <a:t>what it left open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A1A1A"/>
                          </a:solidFill>
                          <a:latin typeface="Times New Roman"/>
                        </a:rPr>
                        <a:t>Zhang et al., ICLR 2025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Times New Roman"/>
                        </a:rPr>
                        <a:t>Quantization restores forgotten knowledge (21% at fp16 -&gt; 83% at 4-bit). Behavioral + weight-space; benchmarks fail to detect it.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A1A1A"/>
                          </a:solidFill>
                          <a:latin typeface="Times New Roman"/>
                        </a:rPr>
                        <a:t>Two-failure-modes (2026)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Times New Roman"/>
                        </a:rPr>
                        <a:t>Logit-lens view of quantization failure generally; calls mechanistic analysis of quantized models preliminary and fragmented.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A1A1A"/>
                          </a:solidFill>
                          <a:latin typeface="Times New Roman"/>
                        </a:rPr>
                        <a:t>Mechanistic unlearning (2024)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Times New Roman"/>
                        </a:rPr>
                        <a:t>Interpretability used to DO unlearning more robustly; does not test quantization.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5074920"/>
            <a:ext cx="10789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00000"/>
                </a:solidFill>
                <a:latin typeface="Times New Roman"/>
              </a:rPr>
              <a:t>The gap: no reproducible, multi-backend tool that reports REPRESENTATIONAL recovery and localizes the layer at which forgotten knowledge re-opens. LeakLens builds one with the logit lens.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666666"/>
                </a:solidFill>
                <a:latin typeface="Times New Roman"/>
              </a:rPr>
              <a:t>2 · LEAKLENS: WHAT IT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11556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 i="0">
                <a:solidFill>
                  <a:srgbClr val="000000"/>
                </a:solidFill>
                <a:latin typeface="Times New Roman"/>
              </a:rPr>
              <a:t>a config-driven audit of unlearning under quantization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0972800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10789920" cy="4754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000000"/>
                </a:solidFill>
                <a:latin typeface="Times New Roman"/>
              </a:rPr>
              <a:t>Inputs (one YAML)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1A1A1A"/>
                </a:solidFill>
                <a:latin typeface="Times New Roman"/>
              </a:rPr>
              <a:t>–  A base model that KNOWS the facts, the UNLEARNED models (one per method), a forget set, and a list of deployment quantization configs.</a:t>
            </a:r>
          </a:p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000000"/>
                </a:solidFill>
                <a:latin typeface="Times New Roman"/>
              </a:rPr>
              <a:t>Five quantization backends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1A1A1A"/>
                </a:solidFill>
                <a:latin typeface="Times New Roman"/>
              </a:rPr>
              <a:t>–  none (fp16 reference), bitsandbytes (INT8 / NF4 / FP4), round-to-nearest (INT8 / INT4), calibration-aware AWQ, and real GPTQ.</a:t>
            </a:r>
          </a:p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000000"/>
                </a:solidFill>
                <a:latin typeface="Times New Roman"/>
              </a:rPr>
              <a:t>Outputs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1A1A1A"/>
                </a:solidFill>
                <a:latin typeface="Times New Roman"/>
              </a:rPr>
              <a:t>–  Behavioral recovery, the representational RECOVERY-DEPTH metric, and a single heatmap (method x quant, colour = recovery, label = depth) plus a report card.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666666"/>
                </a:solidFill>
                <a:latin typeface="Times New Roman"/>
              </a:rPr>
              <a:t>2 · HOW IT WORKS: THE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11556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00000"/>
                </a:solidFill>
                <a:latin typeface="Times New Roman"/>
              </a:rPr>
              <a:t>how execution travels through the tool (flow.md)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0972800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286000"/>
            <a:ext cx="1600200" cy="1371600"/>
          </a:xfrm>
          <a:prstGeom prst="rect">
            <a:avLst/>
          </a:prstGeom>
          <a:solidFill>
            <a:srgbClr val="F2F2F2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000000"/>
                </a:solidFill>
                <a:latin typeface="Times New Roman"/>
              </a:rPr>
              <a:t>leaklens audit
--config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Times New Roman"/>
              </a:rPr>
              <a:t>one YAML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21992" y="2770632"/>
            <a:ext cx="31089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333333"/>
                </a:solidFill>
                <a:latin typeface="Times New Roman"/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2514600" y="2286000"/>
            <a:ext cx="1600200" cy="1371600"/>
          </a:xfrm>
          <a:prstGeom prst="rect">
            <a:avLst/>
          </a:prstGeom>
          <a:solidFill>
            <a:srgbClr val="F2F2F2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000000"/>
                </a:solidFill>
                <a:latin typeface="Times New Roman"/>
              </a:rPr>
              <a:t>load base
once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Times New Roman"/>
              </a:rPr>
              <a:t>knows reference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96512" y="2770632"/>
            <a:ext cx="31089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333333"/>
                </a:solidFill>
                <a:latin typeface="Times New Roman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2286000"/>
            <a:ext cx="1600200" cy="1371600"/>
          </a:xfrm>
          <a:prstGeom prst="rect">
            <a:avLst/>
          </a:prstGeom>
          <a:solidFill>
            <a:srgbClr val="F2F2F2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000000"/>
                </a:solidFill>
                <a:latin typeface="Times New Roman"/>
              </a:rPr>
              <a:t>for method x
quant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Times New Roman"/>
              </a:rPr>
              <a:t>load + quantize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71032" y="2770632"/>
            <a:ext cx="31089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333333"/>
                </a:solidFill>
                <a:latin typeface="Times New Roman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2286000"/>
            <a:ext cx="1600200" cy="1371600"/>
          </a:xfrm>
          <a:prstGeom prst="rect">
            <a:avLst/>
          </a:prstGeom>
          <a:solidFill>
            <a:srgbClr val="F2F2F2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000000"/>
                </a:solidFill>
                <a:latin typeface="Times New Roman"/>
              </a:rPr>
              <a:t>logit-lens
probe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Times New Roman"/>
              </a:rPr>
              <a:t>rank per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45552" y="2770632"/>
            <a:ext cx="31089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333333"/>
                </a:solidFill>
                <a:latin typeface="Times New Roman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59" y="2286000"/>
            <a:ext cx="1600200" cy="1371600"/>
          </a:xfrm>
          <a:prstGeom prst="rect">
            <a:avLst/>
          </a:prstGeom>
          <a:solidFill>
            <a:srgbClr val="F2F2F2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000000"/>
                </a:solidFill>
                <a:latin typeface="Times New Roman"/>
              </a:rPr>
              <a:t>recovery
metrics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Times New Roman"/>
              </a:rPr>
              <a:t>fraction + depth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20072" y="2770632"/>
            <a:ext cx="31089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333333"/>
                </a:solidFill>
                <a:latin typeface="Times New Roman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12680" y="2286000"/>
            <a:ext cx="1600200" cy="1371600"/>
          </a:xfrm>
          <a:prstGeom prst="rect">
            <a:avLst/>
          </a:prstGeom>
          <a:solidFill>
            <a:srgbClr val="F2F2F2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000000"/>
                </a:solidFill>
                <a:latin typeface="Times New Roman"/>
              </a:rPr>
              <a:t>report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Times New Roman"/>
              </a:rPr>
              <a:t>heatmap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114800"/>
            <a:ext cx="1078992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A1A1A"/>
                </a:solidFill>
                <a:latin typeface="Times New Roman"/>
              </a:rPr>
              <a:t>–  The backend is a pluggable dimension: the same audit loop drives fp16, bitsandbytes, RTN, AWQ, and GPTQ. Calibration-based backends take a calibration corpus, and sweeping that corpus IS the calibration-set attack.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A1A1A"/>
                </a:solidFill>
                <a:latin typeface="Times New Roman"/>
              </a:rPr>
              <a:t>–  Two compute-heavy leaves (the lens and the metrics) have no internal dependencies, so they are unit-tested in isolation; every number traces to one config file.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666666"/>
                </a:solidFill>
                <a:latin typeface="Times New Roman"/>
              </a:rPr>
              <a:t>2 · THE RECOVERY-DEPTH METRIC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11556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 i="0">
                <a:solidFill>
                  <a:srgbClr val="000000"/>
                </a:solidFill>
                <a:latin typeface="Times New Roman"/>
              </a:rPr>
              <a:t>not just whether forgotten knowledge returns, but where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0972800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10789920" cy="4754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0" i="0">
                <a:solidFill>
                  <a:srgbClr val="1A1A1A"/>
                </a:solidFill>
                <a:latin typeface="Times New Roman"/>
              </a:rPr>
              <a:t>–  The logit lens gives, at every layer, the rank of the gold answer token. Run it on the base, the unlearned, and the unlearned-then-quantized model.</a:t>
            </a:r>
          </a:p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000000"/>
                </a:solidFill>
                <a:latin typeface="Times New Roman"/>
              </a:rPr>
              <a:t>Recovery depth (the novel scalar)</a:t>
            </a:r>
          </a:p>
          <a:p>
            <a:pPr algn="l">
              <a:spcAft>
                <a:spcPts val="900"/>
              </a:spcAft>
            </a:pPr>
            <a:r>
              <a:rPr sz="1600" b="0" i="0">
                <a:solidFill>
                  <a:srgbClr val="1A1A1A"/>
                </a:solidFill>
                <a:latin typeface="Times New Roman"/>
              </a:rPr>
              <a:t>–  The shallowest mid-stack layer at which the QUANTIZED model's gold-token rank returns toward the base while the fp16-unlearned model's had not, i.e. the layer at which quantization re-opens the fact.</a:t>
            </a:r>
          </a:p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000000"/>
                </a:solidFill>
                <a:latin typeface="Times New Roman"/>
              </a:rPr>
              <a:t>Recovery fraction (the behavioral screen)</a:t>
            </a:r>
          </a:p>
          <a:p>
            <a:pPr algn="l">
              <a:spcAft>
                <a:spcPts val="900"/>
              </a:spcAft>
            </a:pPr>
            <a:r>
              <a:rPr sz="1600" b="0" i="0">
                <a:solidFill>
                  <a:srgbClr val="1A1A1A"/>
                </a:solidFill>
                <a:latin typeface="Times New Roman"/>
              </a:rPr>
              <a:t>–  The share of the deleted knowledge that returns at a given precision, normalized against the fp16-unlearned baseline. Isolates the quantization effect; drives the heatmap colour.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666666"/>
                </a:solidFill>
                <a:latin typeface="Times New Roman"/>
              </a:rPr>
              <a:t>PART 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332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00000"/>
                </a:solidFill>
                <a:latin typeface="Times New Roman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1">
                <a:solidFill>
                  <a:srgbClr val="666666"/>
                </a:solidFill>
                <a:latin typeface="Times New Roman"/>
              </a:rPr>
              <a:t>on the Hubble-8B suite (base recalls the facts at gold-probability 0.909)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666666"/>
                </a:solidFill>
                <a:latin typeface="Times New Roman"/>
              </a:rPr>
              <a:t>3 · RESULT 1: THE BACKEND DECIDES SURVIVAL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11556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 i="0">
                <a:solidFill>
                  <a:srgbClr val="000000"/>
                </a:solidFill>
                <a:latin typeface="Times New Roman"/>
              </a:rPr>
              <a:t>one hot cell: NPO's unlearning is undone by 4-bit round-to-nearest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0972800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eatmap_tier1_8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8342" y="1691640"/>
            <a:ext cx="7075011" cy="42062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635508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1">
                <a:solidFill>
                  <a:srgbClr val="666666"/>
                </a:solidFill>
                <a:latin typeface="Times New Roman"/>
              </a:rPr>
              <a:t>NPO's forgotten fact goes from rank 4,263 (fp16) to rank 3 under rtn-int4 (recovery 0.16), while calibration-aware bitsandbytes NF4 / INT8 keep it buried. The backend, not just the bit-width, decides.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666666"/>
                </a:solidFill>
                <a:latin typeface="Times New Roman"/>
              </a:rPr>
              <a:t>3 · RESULT 1: THE RECOVERY TRAJECTORY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11556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00000"/>
                </a:solidFill>
                <a:latin typeface="Times New Roman"/>
              </a:rPr>
              <a:t>where the fact re-opens, layer by layer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0972800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eaklens_trajectory_8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3656" y="1691640"/>
            <a:ext cx="7284382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635508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1">
                <a:solidFill>
                  <a:srgbClr val="666666"/>
                </a:solidFill>
                <a:latin typeface="Times New Roman"/>
              </a:rPr>
              <a:t>Base (knows) vs NPO-unlearned (fp16, buried) vs NPO + rtn-int4 (recovered). Quantization pulls the trajectory back toward the knowing model.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666666"/>
                </a:solidFill>
                <a:latin typeface="Times New Roman"/>
              </a:rPr>
              <a:t>3 · RESULT 2: FOUR MECHANISMS, FOUR RESPONSES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11556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 i="0">
                <a:solidFill>
                  <a:srgbClr val="000000"/>
                </a:solidFill>
                <a:latin typeface="Times New Roman"/>
              </a:rPr>
              <a:t>the internal readout explains who survives quantization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0972800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10789920" cy="4754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000000"/>
                </a:solidFill>
                <a:latin typeface="Times New Roman"/>
              </a:rPr>
              <a:t>IDK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Times New Roman"/>
              </a:rPr>
              <a:t>–  Redirects the OUTPUT ("I don't know") without disturbing the representation, so the token stays internally accessible throughout; quantization neither helps nor hurts.</a:t>
            </a:r>
          </a:p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000000"/>
                </a:solidFill>
                <a:latin typeface="Times New Roman"/>
              </a:rPr>
              <a:t>NPO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Times New Roman"/>
              </a:rPr>
              <a:t>–  Buries the fact deeply at fp16 but the representation is fragile: crude 4-bit RTN re-opens it (Result 1).</a:t>
            </a:r>
          </a:p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000000"/>
                </a:solidFill>
                <a:latin typeface="Times New Roman"/>
              </a:rPr>
              <a:t>RMU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Times New Roman"/>
              </a:rPr>
              <a:t>–  Scrambles the representation early and deep (the strongest suppression of the three); only mildly moved by quantization.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Times New Roman"/>
              </a:rPr>
              <a:t>–  The deployment-compression view reproduces the thesis mechanistic taxonomy (IDK surface, NPO late suppression, RMU deep scramble).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666666"/>
                </a:solidFill>
                <a:latin typeface="Times New Roman"/>
              </a:rPr>
              <a:t>3 · RESULT 3: THE CALIBRATION-SET ATTACK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11556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 i="0">
                <a:solidFill>
                  <a:srgbClr val="000000"/>
                </a:solidFill>
                <a:latin typeface="Times New Roman"/>
              </a:rPr>
              <a:t>an honest null: calibration proximity barely moves recovery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0972800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alibration_attack_8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8506" y="1691640"/>
            <a:ext cx="5874683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635508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1">
                <a:solidFill>
                  <a:srgbClr val="666666"/>
                </a:solidFill>
                <a:latin typeface="Times New Roman"/>
              </a:rPr>
              <a:t>Sweeping the AWQ calibration corpus generic -&gt; adjacent -&gt; forget moves recovery only 0.006 to 0.009, within noise at n=25. Not shown to be an attack surface. Reported as a null, not spun.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666666"/>
                </a:solidFill>
                <a:latin typeface="Times New Roman"/>
              </a:rPr>
              <a:t>3 · RESULT 4: THE REAL-GPTQ CROSS-CHECK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11556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 i="0">
                <a:solidFill>
                  <a:srgbClr val="000000"/>
                </a:solidFill>
                <a:latin typeface="Times New Roman"/>
              </a:rPr>
              <a:t>the decisive test could not be run in this environment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0972800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10789920" cy="4754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A1A1A"/>
                </a:solidFill>
                <a:latin typeface="Times New Roman"/>
              </a:rPr>
              <a:t>–  We wired a real GPTQ backend (gptqmodel, desc_act, calibration = the swept corpus) as the decisive, more calibration-sensitive test.</a:t>
            </a:r>
          </a:p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000000"/>
                </a:solidFill>
                <a:latin typeface="Times New Roman"/>
              </a:rPr>
              <a:t>What happened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A1A1A"/>
                </a:solidFill>
                <a:latin typeface="Times New Roman"/>
              </a:rPr>
              <a:t>–  GPTQ QUANTIZES successfully, but the packed model's forward pass crashes in gptqmodel's fallback kernel, an incompatibility with this environment's bleeding-edge Transformers 5.14 / Torch 2.11 (no optimized CUDA kernels available). Three successive fixes each advanced further; the last failure is internal to the library.</a:t>
            </a:r>
          </a:p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000000"/>
                </a:solidFill>
                <a:latin typeface="Times New Roman"/>
              </a:rPr>
              <a:t>Consequence, stated plainly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A1A1A"/>
                </a:solidFill>
                <a:latin typeface="Times New Roman"/>
              </a:rPr>
              <a:t>–  The GPTQ cross-check is unresolved here, so the calibration-attack question stays open. The firm result LeakLens ships is the backend-dependent recovery of Result 1.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666666"/>
                </a:solidFill>
                <a:latin typeface="Times New Roman"/>
              </a:rPr>
              <a:t>PART 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332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00000"/>
                </a:solidFill>
                <a:latin typeface="Times New Roman"/>
              </a:rPr>
              <a:t>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1">
                <a:solidFill>
                  <a:srgbClr val="666666"/>
                </a:solidFill>
                <a:latin typeface="Times New Roman"/>
              </a:rPr>
              <a:t>the complete story, and what is firm vs open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666666"/>
                </a:solidFill>
                <a:latin typeface="Times New Roman"/>
              </a:rPr>
              <a:t>4 ·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11556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00000"/>
                </a:solidFill>
                <a:latin typeface="Times New Roman"/>
              </a:rPr>
              <a:t>stated honestly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0972800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10789920" cy="4754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1A1A1A"/>
                </a:solidFill>
                <a:latin typeface="Times New Roman"/>
              </a:rPr>
              <a:t>–  Single model family (Hubble), single attribute (birthdate), one unlearned checkpoint per method; the recovery findings are on 25 to 44 facts.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1A1A1A"/>
                </a:solidFill>
                <a:latin typeface="Times New Roman"/>
              </a:rPr>
              <a:t>–  The AWQ backend is a transparent activation-scaling re-implementation isolating the calibration mechanism, not the reference kernel.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1A1A1A"/>
                </a:solidFill>
                <a:latin typeface="Times New Roman"/>
              </a:rPr>
              <a:t>–  The real-GPTQ cross-check was blocked by an environment/kernel incompatibility, so the calibration-set attack remains an open question rather than a settled result.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1A1A1A"/>
                </a:solidFill>
                <a:latin typeface="Times New Roman"/>
              </a:rPr>
              <a:t>–  Recovery depth and recovery fraction are complementary; the behavioral fraction is the primary, quantization-isolating signal.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666666"/>
                </a:solidFill>
                <a:latin typeface="Times New Roman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11556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00000"/>
                </a:solidFill>
                <a:latin typeface="Times New Roman"/>
              </a:rPr>
              <a:t>one continuous story, from unlearning to deployment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0972800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3474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The thesis showed that most unlearning SUPPRESSES a fact at the output while its</a:t>
            </a:r>
          </a:p>
          <a:p>
            <a:pPr algn="ctr">
              <a:spcAft>
                <a:spcPts val="8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representation stays intact. LeakLens shows that deployment-time quantization can</a:t>
            </a:r>
          </a:p>
          <a:p>
            <a:pPr algn="ctr">
              <a:spcAft>
                <a:spcPts val="800"/>
              </a:spcAft>
            </a:pPr>
            <a:r>
              <a:rPr sz="2000" b="1" i="0">
                <a:solidFill>
                  <a:srgbClr val="000000"/>
                </a:solidFill>
                <a:latin typeface="Times New Roman"/>
              </a:rPr>
              <a:t>RE-OPEN that suppressed representation, and that the quantization backend decides whether it does.</a:t>
            </a:r>
          </a:p>
          <a:p>
            <a:pPr algn="ctr">
              <a:spcAft>
                <a:spcPts val="1000"/>
              </a:spcAft>
            </a:pPr>
            <a:r>
              <a:rPr sz="1600" b="0" i="1">
                <a:solidFill>
                  <a:srgbClr val="666666"/>
                </a:solidFill>
                <a:latin typeface="Times New Roman"/>
              </a:rPr>
              <a:t>If your compliance story depends on unlearning, quantization can silently void it, and now there is a tool that measures it.</a:t>
            </a:r>
          </a:p>
          <a:p>
            <a:pPr algn="ctr">
              <a:spcAft>
                <a:spcPts val="0"/>
              </a:spcAft>
            </a:pPr>
            <a:r>
              <a:rPr sz="1600" b="0" i="1">
                <a:solidFill>
                  <a:srgbClr val="666666"/>
                </a:solidFill>
                <a:latin typeface="Times New Roman"/>
              </a:rPr>
              <a:t>Future work: a pinned GPTQ / AWQ environment to settle the calibration attack, more model families and attributes, and the PII per-attribute breakdown.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